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7" r:id="rId4"/>
    <p:sldId id="268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34440" y="1430595"/>
            <a:ext cx="6675120" cy="118596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800"/>
              </a:spcAft>
            </a:pPr>
            <a:endParaRPr lang="en-US" sz="3400" b="0" dirty="0">
              <a:solidFill>
                <a:srgbClr val="141414"/>
              </a:solidFill>
              <a:latin typeface="Algerian" panose="04020705040A02060702" pitchFamily="82" charset="0"/>
            </a:endParaRPr>
          </a:p>
          <a:p>
            <a:pPr algn="ctr">
              <a:spcAft>
                <a:spcPts val="800"/>
              </a:spcAft>
            </a:pPr>
            <a:r>
              <a:rPr sz="3400" b="1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577661"/>
            <a:ext cx="5303520" cy="360099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83864" y="5049866"/>
            <a:ext cx="6949440" cy="755079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lang="en-US" sz="2000" b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sz="2000" b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Guru Charan M</a:t>
            </a:r>
            <a:endParaRPr lang="en-US" sz="2000" b="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800"/>
              </a:spcAft>
            </a:pPr>
            <a:r>
              <a:rPr sz="2000" b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b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sz="2000" b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Reg. No.: 192524434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970726"/>
            <a:ext cx="6949440" cy="4678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CSA0309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537324"/>
            <a:ext cx="6949440" cy="4678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Structures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2736" y="5917051"/>
            <a:ext cx="6949440" cy="3139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09/10/2026</a:t>
            </a:r>
          </a:p>
        </p:txBody>
      </p:sp>
      <p:pic>
        <p:nvPicPr>
          <p:cNvPr id="11" name="Picture 10" descr="A blue and white logo&#10;&#10;AI-generated content may be incorrect.">
            <a:extLst>
              <a:ext uri="{FF2B5EF4-FFF2-40B4-BE49-F238E27FC236}">
                <a16:creationId xmlns:a16="http://schemas.microsoft.com/office/drawing/2014/main" id="{21B032E6-6DE7-7514-2594-4B721FC38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443801"/>
            <a:ext cx="7781544" cy="13517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25880" y="543106"/>
            <a:ext cx="6492240" cy="51398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lang="en-US" sz="3100" b="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  <a:endParaRPr sz="3100" b="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83879" y="6519672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>
                <a:solidFill>
                  <a:srgbClr val="7D7D7D"/>
                </a:solidFill>
                <a:latin typeface="Arial Narrow"/>
              </a:rPr>
              <a:t>2</a:t>
            </a:r>
          </a:p>
        </p:txBody>
      </p:sp>
      <p:pic>
        <p:nvPicPr>
          <p:cNvPr id="8" name="Picture 7" descr="A list of questions with text&#10;&#10;AI-generated content may be incorrect.">
            <a:extLst>
              <a:ext uri="{FF2B5EF4-FFF2-40B4-BE49-F238E27FC236}">
                <a16:creationId xmlns:a16="http://schemas.microsoft.com/office/drawing/2014/main" id="{C65848B8-3AED-BE1A-7CBC-8C55913D0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00200"/>
            <a:ext cx="8110729" cy="4462272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39F3532-0E63-EE6A-1177-54FE26FE7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34" y="146304"/>
            <a:ext cx="1133094" cy="928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A blue and yellow logo&#10;&#10;AI-generated content may be incorrect.">
            <a:extLst>
              <a:ext uri="{FF2B5EF4-FFF2-40B4-BE49-F238E27FC236}">
                <a16:creationId xmlns:a16="http://schemas.microsoft.com/office/drawing/2014/main" id="{79A36372-14D3-21BC-73B4-933E3D3B13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0" y="0"/>
            <a:ext cx="2381250" cy="13906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7E2E4C-59E9-5D29-E9C4-9E359D099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05FF6A-01FE-325A-8697-C254C41ABF71}"/>
              </a:ext>
            </a:extLst>
          </p:cNvPr>
          <p:cNvSpPr txBox="1"/>
          <p:nvPr/>
        </p:nvSpPr>
        <p:spPr>
          <a:xfrm>
            <a:off x="1325880" y="543106"/>
            <a:ext cx="6492240" cy="51398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lang="en-US" sz="3100" b="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Rubrics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5E1886-CDAD-3839-EB5B-AF518DEBCA43}"/>
              </a:ext>
            </a:extLst>
          </p:cNvPr>
          <p:cNvSpPr txBox="1"/>
          <p:nvPr/>
        </p:nvSpPr>
        <p:spPr>
          <a:xfrm>
            <a:off x="8183879" y="6519672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>
                <a:solidFill>
                  <a:srgbClr val="7D7D7D"/>
                </a:solidFill>
                <a:latin typeface="Arial Narrow"/>
              </a:rPr>
              <a:t>2</a:t>
            </a:r>
          </a:p>
        </p:txBody>
      </p:sp>
      <p:pic>
        <p:nvPicPr>
          <p:cNvPr id="8" name="Picture 7" descr="A table of calculator calculation&#10;&#10;AI-generated content may be incorrect.">
            <a:extLst>
              <a:ext uri="{FF2B5EF4-FFF2-40B4-BE49-F238E27FC236}">
                <a16:creationId xmlns:a16="http://schemas.microsoft.com/office/drawing/2014/main" id="{6005357A-31A1-2AFC-F111-BA513F59E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08176"/>
            <a:ext cx="8119871" cy="5111496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4BFACB07-BD05-7304-7354-FC07D1500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658" y="338328"/>
            <a:ext cx="876300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blue and yellow logo&#10;&#10;AI-generated content may be incorrect.">
            <a:extLst>
              <a:ext uri="{FF2B5EF4-FFF2-40B4-BE49-F238E27FC236}">
                <a16:creationId xmlns:a16="http://schemas.microsoft.com/office/drawing/2014/main" id="{233CDDC5-CBE6-9C05-B5E9-1E7794211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048" y="276224"/>
            <a:ext cx="1901952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179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4C98B9-86E5-ADA0-AEDD-B3F9BD348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32FBC6-AA4E-EF56-D9B5-C471E567E19F}"/>
              </a:ext>
            </a:extLst>
          </p:cNvPr>
          <p:cNvSpPr txBox="1"/>
          <p:nvPr/>
        </p:nvSpPr>
        <p:spPr>
          <a:xfrm>
            <a:off x="1325880" y="543106"/>
            <a:ext cx="6492240" cy="51398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3100" b="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844800-8009-3D88-40F2-BE0726C0173B}"/>
              </a:ext>
            </a:extLst>
          </p:cNvPr>
          <p:cNvSpPr txBox="1"/>
          <p:nvPr/>
        </p:nvSpPr>
        <p:spPr>
          <a:xfrm>
            <a:off x="594360" y="1691640"/>
            <a:ext cx="7955279" cy="3701013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7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Overview: select data structures for four real-world computing tasks.</a:t>
            </a:r>
          </a:p>
          <a:p>
            <a:pPr>
              <a:spcAft>
                <a:spcPts val="17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Problem statement: each task needs efficient storage, navigation, history management, or search.</a:t>
            </a:r>
          </a:p>
          <a:p>
            <a:pPr>
              <a:spcAft>
                <a:spcPts val="17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Purpose: justify each selection using operations, time complexity, and space complexity.</a:t>
            </a:r>
          </a:p>
          <a:p>
            <a:pPr>
              <a:spcAft>
                <a:spcPts val="17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Topics: student marks, city routes, browser history, and ISBN search</a:t>
            </a:r>
            <a:r>
              <a:rPr sz="2000" dirty="0">
                <a:solidFill>
                  <a:srgbClr val="141414"/>
                </a:solidFill>
                <a:latin typeface="Arial Narrow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64BC5C-D640-E32F-A4D6-5567F67C9B1B}"/>
              </a:ext>
            </a:extLst>
          </p:cNvPr>
          <p:cNvSpPr txBox="1"/>
          <p:nvPr/>
        </p:nvSpPr>
        <p:spPr>
          <a:xfrm>
            <a:off x="8183879" y="6519672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>
                <a:solidFill>
                  <a:srgbClr val="7D7D7D"/>
                </a:solidFill>
                <a:latin typeface="Arial Narrow"/>
              </a:rPr>
              <a:t>2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4CCF7AD-3103-BAC9-0C61-DD6FDC7DD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666" y="324811"/>
            <a:ext cx="876300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blue and yellow logo&#10;&#10;AI-generated content may be incorrect.">
            <a:extLst>
              <a:ext uri="{FF2B5EF4-FFF2-40B4-BE49-F238E27FC236}">
                <a16:creationId xmlns:a16="http://schemas.microsoft.com/office/drawing/2014/main" id="{6FA2AB29-B5ED-E87D-083E-5D5593B27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8743" y="173736"/>
            <a:ext cx="1611249" cy="107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140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73480" y="557285"/>
            <a:ext cx="6492240" cy="51398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3100" b="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1: Student Marks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1" y="1691640"/>
            <a:ext cx="4471415" cy="480900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700"/>
              </a:spcAft>
            </a:pPr>
            <a:r>
              <a:rPr sz="2000" dirty="0">
                <a:solidFill>
                  <a:srgbClr val="141414"/>
                </a:solidFill>
                <a:latin typeface="Arial Narrow"/>
              </a:rPr>
              <a:t>•  </a:t>
            </a: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Requirement: store and manage marks for 1,000 students.</a:t>
            </a:r>
          </a:p>
          <a:p>
            <a:pPr>
              <a:spcAft>
                <a:spcPts val="17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Primitive data: int for student IDs and float/double for marks.</a:t>
            </a:r>
          </a:p>
          <a:p>
            <a:pPr>
              <a:spcAft>
                <a:spcPts val="17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Non-primitive structure: an array of Student records </a:t>
            </a:r>
            <a:r>
              <a:rPr lang="en-US"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groups ID, name, and marks.</a:t>
            </a:r>
          </a:p>
          <a:p>
            <a:pPr>
              <a:spcAft>
                <a:spcPts val="17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Recommendation: use an array of records when the number of students is known and indexed access is useful.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6519672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>
                <a:solidFill>
                  <a:srgbClr val="7D7D7D"/>
                </a:solidFill>
                <a:latin typeface="Arial Narrow"/>
              </a:rPr>
              <a:t>3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0EACFE0-E56E-2EF3-553A-A95505875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" y="317092"/>
            <a:ext cx="876300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6" descr="Examination Management System, Examination Management Software">
            <a:extLst>
              <a:ext uri="{FF2B5EF4-FFF2-40B4-BE49-F238E27FC236}">
                <a16:creationId xmlns:a16="http://schemas.microsoft.com/office/drawing/2014/main" id="{B562D88A-D687-B08E-A9A5-F9AA9005F7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2493264" cy="2011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106" name="Picture 10" descr="MARKS MANAGEMENT SYSTEM (Skill Development Project 2 Batch No -70)">
            <a:extLst>
              <a:ext uri="{FF2B5EF4-FFF2-40B4-BE49-F238E27FC236}">
                <a16:creationId xmlns:a16="http://schemas.microsoft.com/office/drawing/2014/main" id="{A12ECBA7-E345-024F-0527-F256EA59F3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4647" y="1691639"/>
            <a:ext cx="3410712" cy="4809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blue and yellow logo&#10;&#10;AI-generated content may be incorrect.">
            <a:extLst>
              <a:ext uri="{FF2B5EF4-FFF2-40B4-BE49-F238E27FC236}">
                <a16:creationId xmlns:a16="http://schemas.microsoft.com/office/drawing/2014/main" id="{636B494D-7022-C63F-D2A6-F296E0D4F7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4191" y="173736"/>
            <a:ext cx="1519809" cy="9568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25880" y="543106"/>
            <a:ext cx="6492240" cy="51398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3100" b="0" dirty="0">
                <a:solidFill>
                  <a:srgbClr val="141414"/>
                </a:solidFill>
                <a:latin typeface="Sitka Subheading" pitchFamily="2" charset="0"/>
                <a:cs typeface="Times New Roman" panose="02020603050405020304" pitchFamily="18" charset="0"/>
              </a:rPr>
              <a:t>Question 1: Efficiency Justification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1" y="1289304"/>
            <a:ext cx="5614416" cy="56659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50000"/>
              </a:lnSpc>
              <a:spcAft>
                <a:spcPts val="17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Access or update by known index: O(1).</a:t>
            </a:r>
          </a:p>
          <a:p>
            <a:pPr>
              <a:lnSpc>
                <a:spcPct val="150000"/>
              </a:lnSpc>
              <a:spcAft>
                <a:spcPts val="17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Calculate class average or find a mark by scanning: O(n), where n = 1,000.</a:t>
            </a:r>
          </a:p>
          <a:p>
            <a:pPr>
              <a:lnSpc>
                <a:spcPct val="150000"/>
              </a:lnSpc>
              <a:spcAft>
                <a:spcPts val="17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Limitation: insertion or deletion in the middle may take O(n) because elements shift.</a:t>
            </a:r>
          </a:p>
          <a:p>
            <a:pPr>
              <a:lnSpc>
                <a:spcPct val="150000"/>
              </a:lnSpc>
              <a:spcAft>
                <a:spcPts val="17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Conclusion: an array of records is a simple, memory-efficient choice for a fixed-size class list</a:t>
            </a:r>
            <a:r>
              <a:rPr sz="1900" dirty="0">
                <a:solidFill>
                  <a:srgbClr val="141414"/>
                </a:solidFill>
                <a:latin typeface="Arial Narrow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6519672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>
                <a:solidFill>
                  <a:srgbClr val="7D7D7D"/>
                </a:solidFill>
                <a:latin typeface="Arial Narrow"/>
              </a:rPr>
              <a:t>4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F193185-FE8F-C004-2E93-6EC7C9159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938" y="317092"/>
            <a:ext cx="876300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What is a Student Management System + Benefits of Using">
            <a:extLst>
              <a:ext uri="{FF2B5EF4-FFF2-40B4-BE49-F238E27FC236}">
                <a16:creationId xmlns:a16="http://schemas.microsoft.com/office/drawing/2014/main" id="{CAEA79DB-8EC6-7CF3-A950-F5B0580D1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983" y="1957388"/>
            <a:ext cx="3557017" cy="3894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blue and yellow logo&#10;&#10;AI-generated content may be incorrect.">
            <a:extLst>
              <a:ext uri="{FF2B5EF4-FFF2-40B4-BE49-F238E27FC236}">
                <a16:creationId xmlns:a16="http://schemas.microsoft.com/office/drawing/2014/main" id="{9B866E1E-9670-412F-D821-6E2048CED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7323" y="173736"/>
            <a:ext cx="1551812" cy="11247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late_lef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91440"/>
            <a:ext cx="914400" cy="1298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543106"/>
            <a:ext cx="6492240" cy="51398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3100" b="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2: City Navigation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1" y="1691640"/>
            <a:ext cx="4846319" cy="45579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50000"/>
              </a:lnSpc>
              <a:spcAft>
                <a:spcPts val="17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Model each city as a vertex and each road as an edge.</a:t>
            </a:r>
          </a:p>
          <a:p>
            <a:pPr>
              <a:lnSpc>
                <a:spcPct val="150000"/>
              </a:lnSpc>
              <a:spcAft>
                <a:spcPts val="17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Store distance or travel time as a weight on each edge.</a:t>
            </a:r>
          </a:p>
          <a:p>
            <a:pPr>
              <a:lnSpc>
                <a:spcPct val="150000"/>
              </a:lnSpc>
              <a:spcAft>
                <a:spcPts val="17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Recommendation: a weighted graph represented by an adjacency list.</a:t>
            </a:r>
          </a:p>
          <a:p>
            <a:pPr>
              <a:lnSpc>
                <a:spcPct val="150000"/>
              </a:lnSpc>
              <a:spcAft>
                <a:spcPts val="1700"/>
              </a:spcAft>
            </a:pPr>
            <a:endParaRPr sz="2400" dirty="0">
              <a:solidFill>
                <a:srgbClr val="14141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83879" y="6519672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>
                <a:solidFill>
                  <a:srgbClr val="7D7D7D"/>
                </a:solidFill>
                <a:latin typeface="Arial Narrow"/>
              </a:rPr>
              <a:t>5</a:t>
            </a:r>
          </a:p>
        </p:txBody>
      </p:sp>
      <p:pic>
        <p:nvPicPr>
          <p:cNvPr id="12290" name="Picture 2" descr="Automotive AR Navigation: For More Intuitive Navigation Experiences |  Basemark">
            <a:extLst>
              <a:ext uri="{FF2B5EF4-FFF2-40B4-BE49-F238E27FC236}">
                <a16:creationId xmlns:a16="http://schemas.microsoft.com/office/drawing/2014/main" id="{F2BC40BF-EF50-BF35-814E-A44F36B1E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9864" y="1464818"/>
            <a:ext cx="3374136" cy="513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blue and yellow logo&#10;&#10;AI-generated content may be incorrect.">
            <a:extLst>
              <a:ext uri="{FF2B5EF4-FFF2-40B4-BE49-F238E27FC236}">
                <a16:creationId xmlns:a16="http://schemas.microsoft.com/office/drawing/2014/main" id="{00952BE1-BEE3-7609-5C8E-63713D2A72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3375" y="91440"/>
            <a:ext cx="1190625" cy="9656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25880" y="543106"/>
            <a:ext cx="6492240" cy="51398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3100" b="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2: Efficiency Justification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1" y="1691640"/>
            <a:ext cx="6428232" cy="48939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50000"/>
              </a:lnSpc>
              <a:spcAft>
                <a:spcPts val="17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Adjacency-list space complexity: O(V + E), where V is cities and E is road connections.</a:t>
            </a:r>
          </a:p>
          <a:p>
            <a:pPr>
              <a:lnSpc>
                <a:spcPct val="150000"/>
              </a:lnSpc>
              <a:spcAft>
                <a:spcPts val="17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An adjacency list is space-efficient for sparse networks where each city connects to only some cities.</a:t>
            </a:r>
          </a:p>
          <a:p>
            <a:pPr>
              <a:lnSpc>
                <a:spcPct val="150000"/>
              </a:lnSpc>
              <a:spcAft>
                <a:spcPts val="17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BFS is suitable only when every edge has equal cost; negative edge weights require another algorithm such as Bellman–Ford.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6519672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>
                <a:solidFill>
                  <a:srgbClr val="7D7D7D"/>
                </a:solidFill>
                <a:latin typeface="Arial Narrow"/>
              </a:rPr>
              <a:t>6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FA1BC63-D67C-949E-F710-5B7EB3F62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370" y="317092"/>
            <a:ext cx="876300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blue and yellow logo&#10;&#10;AI-generated content may be incorrect.">
            <a:extLst>
              <a:ext uri="{FF2B5EF4-FFF2-40B4-BE49-F238E27FC236}">
                <a16:creationId xmlns:a16="http://schemas.microsoft.com/office/drawing/2014/main" id="{3AB30634-E59F-DEE6-1429-AB4FA0595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871" y="173736"/>
            <a:ext cx="1794129" cy="8964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25880" y="543106"/>
            <a:ext cx="6492240" cy="51398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3100" b="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3: Browser Back 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5" y="1353312"/>
            <a:ext cx="5650991" cy="51119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50000"/>
              </a:lnSpc>
              <a:spcAft>
                <a:spcPts val="17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Requirement: return to the most recently visited page when the user selects Back.</a:t>
            </a:r>
          </a:p>
          <a:p>
            <a:pPr>
              <a:lnSpc>
                <a:spcPct val="150000"/>
              </a:lnSpc>
              <a:spcAft>
                <a:spcPts val="17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Recommendation: Stack ADT, which follows LIFO (Last In, First Out).</a:t>
            </a:r>
          </a:p>
          <a:p>
            <a:pPr>
              <a:lnSpc>
                <a:spcPct val="150000"/>
              </a:lnSpc>
              <a:spcAft>
                <a:spcPts val="17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When visiting a page, push the current page onto the history stack.</a:t>
            </a:r>
          </a:p>
          <a:p>
            <a:pPr>
              <a:lnSpc>
                <a:spcPct val="150000"/>
              </a:lnSpc>
              <a:spcAft>
                <a:spcPts val="17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When Back is selected, pop the most recent page and return to it</a:t>
            </a:r>
            <a:r>
              <a:rPr lang="en-IN"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6519672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>
                <a:solidFill>
                  <a:srgbClr val="7D7D7D"/>
                </a:solidFill>
                <a:latin typeface="Arial Narrow"/>
              </a:rPr>
              <a:t>7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597ED04C-334B-88B0-60E1-135A29186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226" y="352243"/>
            <a:ext cx="876300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Navigate Forward and Backward in Chrome on Android">
            <a:extLst>
              <a:ext uri="{FF2B5EF4-FFF2-40B4-BE49-F238E27FC236}">
                <a16:creationId xmlns:a16="http://schemas.microsoft.com/office/drawing/2014/main" id="{3DB8AE89-BAE0-D30E-176E-D30A5367F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662113"/>
            <a:ext cx="3429001" cy="4308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blue and yellow logo&#10;&#10;AI-generated content may be incorrect.">
            <a:extLst>
              <a:ext uri="{FF2B5EF4-FFF2-40B4-BE49-F238E27FC236}">
                <a16:creationId xmlns:a16="http://schemas.microsoft.com/office/drawing/2014/main" id="{7D643435-24E3-BFE5-C344-CDA611CA78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1623" y="226124"/>
            <a:ext cx="1346073" cy="8873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25880" y="543106"/>
            <a:ext cx="6492240" cy="51398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3100" b="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3: Efficiency Justification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1" y="1407695"/>
            <a:ext cx="7955279" cy="51119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50000"/>
              </a:lnSpc>
              <a:spcAft>
                <a:spcPts val="17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Push, pop, and peek are O(1) operations in a typical stack implementation.</a:t>
            </a:r>
          </a:p>
          <a:p>
            <a:pPr>
              <a:lnSpc>
                <a:spcPct val="150000"/>
              </a:lnSpc>
              <a:spcAft>
                <a:spcPts val="17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Back navigation does not need to scan the full history list to find the previous page.</a:t>
            </a:r>
          </a:p>
          <a:p>
            <a:pPr>
              <a:lnSpc>
                <a:spcPct val="150000"/>
              </a:lnSpc>
              <a:spcAft>
                <a:spcPts val="17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Space complexity: O(h), where h is the number of stored history entries.</a:t>
            </a:r>
          </a:p>
          <a:p>
            <a:pPr>
              <a:lnSpc>
                <a:spcPct val="150000"/>
              </a:lnSpc>
              <a:spcAft>
                <a:spcPts val="17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Conclusion: Stack ADT matches the required LIFO behavior and provides efficient navigation.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6519672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>
                <a:solidFill>
                  <a:srgbClr val="7D7D7D"/>
                </a:solidFill>
                <a:latin typeface="Arial Narrow"/>
              </a:rPr>
              <a:t>8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70F8CC59-4A7A-2E5F-0015-10796A24B5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94" y="317092"/>
            <a:ext cx="876300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blue and yellow logo&#10;&#10;AI-generated content may be incorrect.">
            <a:extLst>
              <a:ext uri="{FF2B5EF4-FFF2-40B4-BE49-F238E27FC236}">
                <a16:creationId xmlns:a16="http://schemas.microsoft.com/office/drawing/2014/main" id="{8F41E945-F812-87A8-92E1-D4B5FFFEA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578" y="172021"/>
            <a:ext cx="1410081" cy="104279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25880" y="304580"/>
            <a:ext cx="6492240" cy="991041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3100" b="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4: Digital Library ISBN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9" y="1225296"/>
            <a:ext cx="5586983" cy="51119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50000"/>
              </a:lnSpc>
              <a:spcAft>
                <a:spcPts val="17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Requirement: search a book quickly by ISBN among 50,000 records.</a:t>
            </a:r>
          </a:p>
          <a:p>
            <a:pPr>
              <a:lnSpc>
                <a:spcPct val="150000"/>
              </a:lnSpc>
              <a:spcAft>
                <a:spcPts val="17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Recommendation: a hash table with ISBN as the key.</a:t>
            </a:r>
          </a:p>
          <a:p>
            <a:pPr>
              <a:lnSpc>
                <a:spcPct val="150000"/>
              </a:lnSpc>
              <a:spcAft>
                <a:spcPts val="17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A hash function maps each ISBN to a table index, where the book record can be found.</a:t>
            </a:r>
          </a:p>
          <a:p>
            <a:pPr>
              <a:lnSpc>
                <a:spcPct val="150000"/>
              </a:lnSpc>
              <a:spcAft>
                <a:spcPts val="17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Use collision handling such as chaining or open addressing.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6519672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>
                <a:solidFill>
                  <a:srgbClr val="7D7D7D"/>
                </a:solidFill>
                <a:latin typeface="Arial Narrow"/>
              </a:rPr>
              <a:t>9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1E6B2F1E-89CF-D7C6-3689-0FB6D9AC2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44" y="304580"/>
            <a:ext cx="876300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Isbn Book Search">
            <a:extLst>
              <a:ext uri="{FF2B5EF4-FFF2-40B4-BE49-F238E27FC236}">
                <a16:creationId xmlns:a16="http://schemas.microsoft.com/office/drawing/2014/main" id="{A6F23487-5008-3991-638B-899BFC06B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752" y="1171575"/>
            <a:ext cx="3063240" cy="568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blue and yellow logo&#10;&#10;AI-generated content may be incorrect.">
            <a:extLst>
              <a:ext uri="{FF2B5EF4-FFF2-40B4-BE49-F238E27FC236}">
                <a16:creationId xmlns:a16="http://schemas.microsoft.com/office/drawing/2014/main" id="{237314D1-86F4-6D6B-3C6D-ED3A608D1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8372" y="242557"/>
            <a:ext cx="1464945" cy="9910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25880" y="304580"/>
            <a:ext cx="6492240" cy="991041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3100" b="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 4: Time Complexity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1640"/>
            <a:ext cx="7955279" cy="51119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50000"/>
              </a:lnSpc>
              <a:spcAft>
                <a:spcPts val="17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Unsorted array/list: O(n) search; up to 50,000 records may be checked.</a:t>
            </a:r>
          </a:p>
          <a:p>
            <a:pPr>
              <a:lnSpc>
                <a:spcPct val="150000"/>
              </a:lnSpc>
              <a:spcAft>
                <a:spcPts val="17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Balanced search tree: O(log n) search; approximately log₂(50,000) ≈ 16 comparisons.</a:t>
            </a:r>
          </a:p>
          <a:p>
            <a:pPr>
              <a:lnSpc>
                <a:spcPct val="150000"/>
              </a:lnSpc>
              <a:spcAft>
                <a:spcPts val="17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Hash table: expected O(1) lookup with a good hash function and controlled collisions.</a:t>
            </a:r>
          </a:p>
          <a:p>
            <a:pPr>
              <a:lnSpc>
                <a:spcPct val="150000"/>
              </a:lnSpc>
              <a:spcAft>
                <a:spcPts val="1700"/>
              </a:spcAft>
            </a:pPr>
            <a:r>
              <a:rPr sz="2400" dirty="0">
                <a:solidFill>
                  <a:srgbClr val="14141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Conclusion: hashing is the best fit for frequent exact-match ISBN lookups.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6519672"/>
            <a:ext cx="411480" cy="1645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r">
              <a:spcAft>
                <a:spcPts val="800"/>
              </a:spcAft>
            </a:pPr>
            <a:r>
              <a:rPr sz="900" b="0">
                <a:solidFill>
                  <a:srgbClr val="7D7D7D"/>
                </a:solidFill>
                <a:latin typeface="Arial Narrow"/>
              </a:rPr>
              <a:t>10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C67ABAD5-2575-8038-B032-C94725ABE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" y="304580"/>
            <a:ext cx="876300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blue and yellow logo&#10;&#10;AI-generated content may be incorrect.">
            <a:extLst>
              <a:ext uri="{FF2B5EF4-FFF2-40B4-BE49-F238E27FC236}">
                <a16:creationId xmlns:a16="http://schemas.microsoft.com/office/drawing/2014/main" id="{567E850C-1A9B-685E-D987-155C4E1CB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8471" y="185227"/>
            <a:ext cx="1455801" cy="10149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53312" y="2839587"/>
            <a:ext cx="6583680" cy="86793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5400" b="0" dirty="0">
                <a:solidFill>
                  <a:srgbClr val="141414"/>
                </a:solidFill>
                <a:latin typeface="Algerian" panose="04020705040A02060702" pitchFamily="82" charset="0"/>
              </a:rPr>
              <a:t>Thank You!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831B111A-B5DB-DB04-F00E-4CE538F4D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" y="550735"/>
            <a:ext cx="1498092" cy="1029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blue and yellow logo&#10;&#10;AI-generated content may be incorrect.">
            <a:extLst>
              <a:ext uri="{FF2B5EF4-FFF2-40B4-BE49-F238E27FC236}">
                <a16:creationId xmlns:a16="http://schemas.microsoft.com/office/drawing/2014/main" id="{F592C029-DF85-0A3B-DBC8-FD32F2A41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207" y="369951"/>
            <a:ext cx="2381250" cy="13906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648</Words>
  <Application>Microsoft Office PowerPoint</Application>
  <PresentationFormat>On-screen Show (4:3)</PresentationFormat>
  <Paragraphs>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Algerian</vt:lpstr>
      <vt:lpstr>Arial</vt:lpstr>
      <vt:lpstr>Arial Narrow</vt:lpstr>
      <vt:lpstr>Calibri</vt:lpstr>
      <vt:lpstr>Sitka Subheading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Guru M</cp:lastModifiedBy>
  <cp:revision>2</cp:revision>
  <dcterms:created xsi:type="dcterms:W3CDTF">2013-01-27T09:14:16Z</dcterms:created>
  <dcterms:modified xsi:type="dcterms:W3CDTF">2026-10-09T08:09:59Z</dcterms:modified>
  <cp:category/>
</cp:coreProperties>
</file>